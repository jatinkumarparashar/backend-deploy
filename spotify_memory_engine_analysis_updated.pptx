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Aptos"/>
              </a:rPr>
              <a:t>SPOTIFY AI / BACKEND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F5F5F5"/>
                </a:solidFill>
                <a:latin typeface="Aptos Display"/>
              </a:rPr>
              <a:t>Spotify Governed
AI Memory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17520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A5A5A5"/>
                </a:solidFill>
                <a:latin typeface="Aptos"/>
              </a:rPr>
              <a:t>A code-grounded walkthrough of personalization, temporal memory, and privacy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069080"/>
            <a:ext cx="1005840" cy="310896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4133088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21212"/>
                </a:solidFill>
                <a:latin typeface="Aptos"/>
              </a:rP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4069080"/>
            <a:ext cx="960120" cy="310896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19" y="4133088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Aptos"/>
              </a:rPr>
              <a:t>SQLITE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4069080"/>
            <a:ext cx="987552" cy="310896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4133088"/>
            <a:ext cx="9875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Aptos"/>
              </a:rPr>
              <a:t>CHROMA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4069080"/>
            <a:ext cx="896112" cy="310896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41648" y="4133088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5F5F5"/>
                </a:solidFill>
                <a:latin typeface="Aptos"/>
              </a:rPr>
              <a:t>NEO4J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4800600"/>
            <a:ext cx="146304" cy="640080"/>
          </a:xfrm>
          <a:prstGeom prst="round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51392" y="4069080"/>
            <a:ext cx="146304" cy="137160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98864" y="4526280"/>
            <a:ext cx="146304" cy="91440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46336" y="3337560"/>
            <a:ext cx="146304" cy="2103120"/>
          </a:xfrm>
          <a:prstGeom prst="round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93808" y="4297680"/>
            <a:ext cx="146304" cy="114300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1280" y="3611880"/>
            <a:ext cx="146304" cy="182880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88752" y="4663440"/>
            <a:ext cx="146304" cy="777240"/>
          </a:xfrm>
          <a:prstGeom prst="round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936224" y="3886200"/>
            <a:ext cx="146304" cy="155448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62179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A5A5A5"/>
                </a:solidFill>
                <a:latin typeface="Aptos"/>
              </a:rPr>
              <a:t>v5.1.0  |  implementation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BACKEND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From listening request to personalized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78308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A single chat request passes through validation, context resolution, persistence, and Spotify retrieval.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06040"/>
            <a:ext cx="1874519" cy="18288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Receive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POST /ai/personalized-chat
user_id +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87752" y="3520440"/>
            <a:ext cx="24688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606040"/>
            <a:ext cx="1874519" cy="18288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2852928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2461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70332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SQLite profile
control state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28032" y="3520440"/>
            <a:ext cx="24688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60" y="2606040"/>
            <a:ext cx="1874519" cy="18288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94960" y="2852928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2461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Interpret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70332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A5A5A5"/>
                </a:solidFill>
                <a:latin typeface="Aptos"/>
              </a:rPr>
              <a:t>Rules resolve mood,
activity, artist, bans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68312" y="3520440"/>
            <a:ext cx="24688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06640" y="2606040"/>
            <a:ext cx="1874519" cy="18288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5240" y="2852928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2461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Remember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70332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Write profile, history,
graph facts, latency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08592" y="3520440"/>
            <a:ext cx="24688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46920" y="2606040"/>
            <a:ext cx="1874519" cy="182880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0" y="2852928"/>
            <a:ext cx="3474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21212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246120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ptos Display"/>
              </a:rPr>
              <a:t>Recommend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70332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  <a:latin typeface="Aptos"/>
              </a:rPr>
              <a:t>Spotify API or
fallback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74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CD4A"/>
                </a:solidFill>
                <a:latin typeface="Aptos"/>
              </a:rPr>
              <a:t>Control branch: memory_paused skips writes; personalization_enabled removes remembered artist, exclusion, and podcast context.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669280"/>
            <a:ext cx="10744200" cy="50292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833872"/>
            <a:ext cx="10241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  <a:latin typeface="Aptos"/>
              </a:rPr>
              <a:t>Returns: ai_dj_response  |  recommended_tracks  |  context_package  |  latency  |  control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FOLDER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The repository is organized around the memory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78308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Aptos"/>
              </a:rPr>
              <a:t>The checked-in implementation is compact; the README also sketches the larger frontend and pipeline expansion.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23160"/>
            <a:ext cx="5120640" cy="324612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CURRENT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343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DB954"/>
                </a:solidFill>
                <a:latin typeface="Aptos"/>
              </a:rPr>
              <a:t>backend/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56432"/>
            <a:ext cx="4343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    main.py                 API +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03904"/>
            <a:ext cx="4343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    database.py             SQLite 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51376"/>
            <a:ext cx="4343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    embeddings.py           384-d vector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98848"/>
            <a:ext cx="4343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    vector_db.py            ChromaDB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4343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    graph_memory.py         Neo4j adapter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93792"/>
            <a:ext cx="4343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A5A5A5"/>
                </a:solidFill>
                <a:latin typeface="Aptos"/>
              </a:rPr>
              <a:t>requirements.txt        runtime dependencies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0619" y="2372898"/>
            <a:ext cx="5257800" cy="324612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Aptos"/>
              </a:rPr>
              <a:t>README EXPANSION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82112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121212"/>
                </a:solidFill>
                <a:latin typeface="Aptos"/>
              </a:rPr>
              <a:t>frontend/          </a:t>
            </a:r>
            <a:r>
              <a:rPr sz="1400" b="0" dirty="0" err="1">
                <a:solidFill>
                  <a:srgbClr val="121212"/>
                </a:solidFill>
                <a:latin typeface="Aptos"/>
              </a:rPr>
              <a:t>Streamlit</a:t>
            </a:r>
            <a:r>
              <a:rPr sz="1400" b="0" dirty="0">
                <a:solidFill>
                  <a:srgbClr val="121212"/>
                </a:solidFill>
                <a:latin typeface="Aptos"/>
              </a:rPr>
              <a:t> pages +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21024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Aptos"/>
              </a:rPr>
              <a:t>memory_pipeline/   auth, ingestion,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59935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Aptos"/>
              </a:rPr>
              <a:t>mcp/               governed memory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98848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Aptos"/>
              </a:rPr>
              <a:t>tests/             API, memory, embedding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937760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21212"/>
                </a:solidFill>
                <a:latin typeface="Aptos"/>
              </a:rPr>
              <a:t>data/              runtime data 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89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CD4A"/>
                </a:solidFill>
                <a:latin typeface="Aptos"/>
              </a:rPr>
              <a:t>Implementation read: main.py currently owns the live request path; the standalone vector and Neo4j adapters are ready for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PROJECT CONTRIBUTORS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Seven contributors, one listening intelligence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78308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Aptos"/>
              </a:rPr>
              <a:t>A seven-member project team can divide the system into focused ownership areas while sharing one governed user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2423160" cy="105156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69748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697480"/>
            <a:ext cx="15087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21212"/>
                </a:solidFill>
                <a:latin typeface="Aptos Display"/>
              </a:rPr>
              <a:t>Product &amp;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035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21212"/>
                </a:solidFill>
                <a:latin typeface="Aptos"/>
              </a:rPr>
              <a:t>Listening experience
user journeys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514600"/>
            <a:ext cx="2423160" cy="105156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5887" y="269748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7" y="2697480"/>
            <a:ext cx="15087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 Display"/>
              </a:rPr>
              <a:t>Backend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7" y="3035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5A5A5"/>
                </a:solidFill>
                <a:latin typeface="Aptos"/>
              </a:rPr>
              <a:t>FastAPI routes
request orchestration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514600"/>
            <a:ext cx="2423160" cy="105156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269748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7" y="2697480"/>
            <a:ext cx="15087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 Display"/>
              </a:rPr>
              <a:t>Memory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035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5A5A5"/>
                </a:solidFill>
                <a:latin typeface="Aptos"/>
              </a:rPr>
              <a:t>SQLite profile
history +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2514600"/>
            <a:ext cx="2423160" cy="105156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53728" y="269748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2697480"/>
            <a:ext cx="15087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 Display"/>
              </a:rPr>
              <a:t>AI &amp;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3035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5A5A5"/>
                </a:solidFill>
                <a:latin typeface="Aptos"/>
              </a:rPr>
              <a:t>Intent resolution
context package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31920"/>
            <a:ext cx="2423160" cy="105156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411480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114800"/>
            <a:ext cx="15087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 Display"/>
              </a:rPr>
              <a:t>Vector / 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5A5A5"/>
                </a:solidFill>
                <a:latin typeface="Aptos"/>
              </a:rPr>
              <a:t>ChromaDB + Neo4j
semantic relationships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3931920"/>
            <a:ext cx="2423160" cy="105156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75887" y="411480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7" y="4114800"/>
            <a:ext cx="15087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 Display"/>
              </a:rPr>
              <a:t>Spotify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445312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5A5A5"/>
                </a:solidFill>
                <a:latin typeface="Aptos"/>
              </a:rPr>
              <a:t>OAuth search
recommendation results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931920"/>
            <a:ext cx="2423160" cy="105156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64807" y="411480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7" y="4114800"/>
            <a:ext cx="15087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 Display"/>
              </a:rPr>
              <a:t>QA &amp;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7" y="445312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5A5A5"/>
                </a:solidFill>
                <a:latin typeface="Aptos"/>
              </a:rPr>
              <a:t>Tests, secrets
release readiness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623560"/>
            <a:ext cx="10744200" cy="50292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797296"/>
            <a:ext cx="10241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CD4A"/>
                </a:solidFill>
                <a:latin typeface="Aptos"/>
              </a:rPr>
              <a:t>Names are intentionally left open because the repository history does not contain a verified seven-member roster.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THE PRODUCT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A personal DJ that remembers with permission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83080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Aptos"/>
              </a:rPr>
              <a:t>The backend turns a natural-language listening request into a governed context package and a Spotify 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3291840" cy="23774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USER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651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Aptos Display"/>
              </a:rPr>
              <a:t>"Give me something
for a coding session
without rap"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3749039"/>
            <a:ext cx="731520" cy="0"/>
          </a:xfrm>
          <a:prstGeom prst="line">
            <a:avLst/>
          </a:prstGeom>
          <a:ln w="381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773168" y="3648456"/>
            <a:ext cx="201168" cy="20116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74920" y="2606040"/>
            <a:ext cx="3291840" cy="23774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28803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RESOLVED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291840"/>
            <a:ext cx="2560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Aptos"/>
              </a:rPr>
              <a:t>activity: Study Session
mood: Focus
banned: Rap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49640" y="3749039"/>
            <a:ext cx="731520" cy="0"/>
          </a:xfrm>
          <a:prstGeom prst="line">
            <a:avLst/>
          </a:prstGeom>
          <a:ln w="381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162288" y="3648456"/>
            <a:ext cx="201168" cy="20116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40" y="2606040"/>
            <a:ext cx="2057400" cy="237744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28803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33756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21212"/>
                </a:solidFill>
                <a:latin typeface="Aptos Display"/>
              </a:rPr>
              <a:t>Personalized
track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15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A5A5A5"/>
                </a:solidFill>
                <a:latin typeface="Aptos"/>
              </a:rPr>
              <a:t>Core promise: relevant recommendations, explainable memory, and user-controlled personalization.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RUNTIME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The implemented request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04088" y="2487168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569464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ptos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2633472"/>
            <a:ext cx="170992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0632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POST /ai/
personalized-chat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FastAPI receives user_id + message</a:t>
            </a:r>
          </a:p>
        </p:txBody>
      </p:sp>
      <p:sp>
        <p:nvSpPr>
          <p:cNvPr id="12" name="Oval 11"/>
          <p:cNvSpPr/>
          <p:nvPr/>
        </p:nvSpPr>
        <p:spPr>
          <a:xfrm>
            <a:off x="2944368" y="2487168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2569464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ptos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2633472"/>
            <a:ext cx="170992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26080" y="30632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Load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033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SQLite reads memory + control flags</a:t>
            </a:r>
          </a:p>
        </p:txBody>
      </p:sp>
      <p:sp>
        <p:nvSpPr>
          <p:cNvPr id="17" name="Oval 16"/>
          <p:cNvSpPr/>
          <p:nvPr/>
        </p:nvSpPr>
        <p:spPr>
          <a:xfrm>
            <a:off x="5184648" y="2487168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4648" y="2569464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ptos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0" y="2633472"/>
            <a:ext cx="170992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66360" y="30632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Resolve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7033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Keyword rules classify mood, activity, artist, exclusions</a:t>
            </a:r>
          </a:p>
        </p:txBody>
      </p:sp>
      <p:sp>
        <p:nvSpPr>
          <p:cNvPr id="22" name="Oval 21"/>
          <p:cNvSpPr/>
          <p:nvPr/>
        </p:nvSpPr>
        <p:spPr>
          <a:xfrm>
            <a:off x="7424928" y="2487168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24928" y="2569464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ptos"/>
              </a:rPr>
              <a:t>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26680" y="2633472"/>
            <a:ext cx="1709928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06640" y="30632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Persist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7033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Profile, history, graph facts, and latency are recorded</a:t>
            </a:r>
          </a:p>
        </p:txBody>
      </p:sp>
      <p:sp>
        <p:nvSpPr>
          <p:cNvPr id="27" name="Oval 26"/>
          <p:cNvSpPr/>
          <p:nvPr/>
        </p:nvSpPr>
        <p:spPr>
          <a:xfrm>
            <a:off x="9665208" y="2487168"/>
            <a:ext cx="292608" cy="292608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65208" y="2569464"/>
            <a:ext cx="29260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21212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0632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 Display"/>
              </a:rPr>
              <a:t>Search Spotify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703320"/>
            <a:ext cx="1828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OAuth API when configured; deterministic fallback otherwise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120640"/>
            <a:ext cx="10744200" cy="7772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358384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Aptos"/>
              </a:rPr>
              <a:t>Response includes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340096"/>
            <a:ext cx="84124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"/>
              </a:rPr>
              <a:t>ai_dj_response   |   recommended_tracks   |   context_package   |   retrieval_latency_ms   |   control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One API, three memory representations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737360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5F5F5"/>
                </a:solidFill>
                <a:latin typeface="Aptos"/>
              </a:rPr>
              <a:t>The repository contains a hybrid-memory design: structured state for control, vectors for similarity, and a graph for relationships and lineage.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2057400" cy="150876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Aptos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82112"/>
            <a:ext cx="1508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21212"/>
                </a:solidFill>
                <a:latin typeface="Aptos Display"/>
              </a:rPr>
              <a:t>Streamlit UI
(or any HTTP client)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3273552"/>
            <a:ext cx="640080" cy="0"/>
          </a:xfrm>
          <a:prstGeom prst="line">
            <a:avLst/>
          </a:prstGeom>
          <a:ln w="381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11880" y="2514600"/>
            <a:ext cx="2011680" cy="150876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7912" y="2816352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2" y="3182112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F5F5F5"/>
                </a:solidFill>
                <a:latin typeface="Aptos Display"/>
              </a:rPr>
              <a:t>FastAPI
main.py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880360"/>
            <a:ext cx="640080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60720" y="3639312"/>
            <a:ext cx="640080" cy="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92240" y="2057400"/>
            <a:ext cx="2148840" cy="11430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23317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STRUCTURED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6517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SQLite profile +
history +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337560"/>
            <a:ext cx="2148840" cy="11430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48272" y="361188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SEMANTIC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9319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ChromaDB +
MiniLM embeddings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743200"/>
            <a:ext cx="2148840" cy="114300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72600" y="3017520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RELATIONSHIP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33756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Optional Neo4j
temporal graph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2880360"/>
            <a:ext cx="475488" cy="274320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668512" y="3474720"/>
            <a:ext cx="475488" cy="438912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539496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CD4A"/>
                </a:solidFill>
                <a:latin typeface="Aptos"/>
              </a:rPr>
              <a:t>Repository note: the current `main.py` path directly implements SQLite + a local temporal_graph table. The standalone vector/Neo4j modules are not imported there yet.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Memory is a timeline, not a single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828800"/>
            <a:ext cx="5029200" cy="347472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ACTIVE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78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preference_artist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5786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Aptos"/>
              </a:rPr>
              <a:t>Diljit Dosanjh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54096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episode_activity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540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Aptos"/>
              </a:rPr>
              <a:t>Study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29584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episode_mood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2958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Aptos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05072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exclusion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00507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Aptos"/>
              </a:rPr>
              <a:t>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personalization_enabled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48056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F5F5F5"/>
                </a:solidFill>
                <a:latin typeface="Aptos"/>
              </a:rPr>
              <a:t>true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72200" y="3566160"/>
            <a:ext cx="731520" cy="0"/>
          </a:xfrm>
          <a:prstGeom prst="line">
            <a:avLst/>
          </a:prstGeom>
          <a:ln w="381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40880" y="1828800"/>
            <a:ext cx="4389120" cy="347472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20" y="214884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TEMPORAL GRAPH 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7432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user_42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74320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DB954"/>
                </a:solidFill>
                <a:latin typeface="Aptos"/>
              </a:rPr>
              <a:t>PREFERS_ARTIST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375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5F5F5"/>
                </a:solidFill>
                <a:latin typeface="Aptos"/>
              </a:rPr>
              <a:t>Diljit Dosanjh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55279" y="2852928"/>
            <a:ext cx="1261873" cy="393192"/>
          </a:xfrm>
          <a:prstGeom prst="line">
            <a:avLst/>
          </a:prstGeom>
          <a:ln w="25400">
            <a:solidFill>
              <a:srgbClr val="1DB9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60920" y="3977639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BFFF00"/>
                </a:solidFill>
                <a:latin typeface="Aptos"/>
              </a:rPr>
              <a:t>confidence 0.98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43484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5A5A5"/>
                </a:solidFill>
                <a:latin typeface="Aptos"/>
              </a:rPr>
              <a:t>provenance: User Conversation Intent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71500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When a field changes, the previous active fact is closed (`valid_to`) and a new fact becomes active. This creates correction lineage instead of silent overwrites.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TRUST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Personalization has visible off-ramps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783080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F5F5"/>
                </a:solidFill>
                <a:latin typeface="Aptos"/>
              </a:rPr>
              <a:t>The API exposes memory controls as first-class endpoints, not hidden flags.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920240" cy="384048"/>
          </a:xfrm>
          <a:prstGeom prst="roundRect">
            <a:avLst/>
          </a:prstGeom>
          <a:solidFill>
            <a:srgbClr val="FFC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ptos"/>
              </a:rPr>
              <a:t>PAUSE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542032"/>
            <a:ext cx="7223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Stop profile and history writes during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44952"/>
            <a:ext cx="1920240" cy="384048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136392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ptos"/>
              </a:rPr>
              <a:t>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118104"/>
            <a:ext cx="7223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Keep the response generic when disabled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21024"/>
            <a:ext cx="1920240" cy="384048"/>
          </a:xfrm>
          <a:prstGeom prst="roundRect">
            <a:avLst/>
          </a:prstGeom>
          <a:solidFill>
            <a:srgbClr val="B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3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ptos"/>
              </a:rPr>
              <a:t>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694176"/>
            <a:ext cx="7223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Update a field and preserve graph provenance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97096"/>
            <a:ext cx="1920240" cy="384048"/>
          </a:xfrm>
          <a:prstGeom prst="roundRect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28853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ptos"/>
              </a:rPr>
              <a:t>PURGE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270248"/>
            <a:ext cx="7223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Delete SQLite profile, history, and graph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73168"/>
            <a:ext cx="1920240" cy="38404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86460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  <a:latin typeface="Aptos"/>
              </a:rPr>
              <a:t>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846320"/>
            <a:ext cx="7223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"/>
              </a:rPr>
              <a:t>Return profile, active facts, and 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1383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Aptos"/>
              </a:rPr>
              <a:t>Operational note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49554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CD4A"/>
                </a:solidFill>
                <a:latin typeface="Aptos"/>
              </a:rPr>
              <a:t>CORS is currently open to all origins, and demo OTPs are returned in the response. Tighten both before production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API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The backend surface is small and legible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874519"/>
            <a:ext cx="4983480" cy="16916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59736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/auth/send-otp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9191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/auth/register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98648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/auth/login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4983480" cy="16916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59736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GET /memory/{user_id}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79191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/memory/update-field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98648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/memory/toggle-control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18104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/memory/purge/{user_id}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37560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GET /memory/export/{user_id}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39"/>
            <a:ext cx="4983480" cy="16916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2062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AI +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62855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POST /ai/personalized-chat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8231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GET /ai/retrieve-ranked-memory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01767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GET /spotify/search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77639"/>
            <a:ext cx="4983480" cy="169164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42062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62855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GET /mcp/tools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8231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search_memory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01767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correct_memory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221223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Aptos"/>
              </a:rPr>
              <a:t>explain_memory_use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72200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A5A5A5"/>
                </a:solidFill>
                <a:latin typeface="Aptos"/>
              </a:rPr>
              <a:t>Design signal: the MCP manifest already points toward tool-based memory governance, even though the implementation currently exposes the manifest as an API response.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  <a:latin typeface="Aptos"/>
              </a:rPr>
              <a:t>ENGINEERING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5F5F5"/>
                </a:solidFill>
                <a:latin typeface="Aptos Display"/>
              </a:rPr>
              <a:t>What is working, and what to harden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A5A5A5"/>
                </a:solidFill>
                <a:latin typeface="Aptos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444752"/>
            <a:ext cx="10972800" cy="0"/>
          </a:xfrm>
          <a:prstGeom prst="line">
            <a:avLst/>
          </a:prstGeom>
          <a:ln w="12700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828800"/>
            <a:ext cx="5166360" cy="3566160"/>
          </a:xfrm>
          <a:prstGeom prst="round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  <a:latin typeface="Aptos"/>
              </a:rPr>
              <a:t>WORKING FOUNDATION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679192"/>
            <a:ext cx="91440" cy="914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2606040"/>
            <a:ext cx="4096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FastAPI endpoints are easy to discover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154680"/>
            <a:ext cx="91440" cy="914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3081528"/>
            <a:ext cx="4096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Memory controls cover pause, disable, export, purge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630168"/>
            <a:ext cx="91440" cy="914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3557016"/>
            <a:ext cx="4096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Temporal facts retain confidence + provenance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105656"/>
            <a:ext cx="91440" cy="914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4032504"/>
            <a:ext cx="4096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Spotify integration degrades to a local fallback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581144"/>
            <a:ext cx="91440" cy="914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07008" y="4507992"/>
            <a:ext cx="4096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Latency is measured and returned per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28800"/>
            <a:ext cx="5166360" cy="3566160"/>
          </a:xfrm>
          <a:prstGeom prst="round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148840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1212"/>
                </a:solidFill>
                <a:latin typeface="Aptos"/>
              </a:rPr>
              <a:t>NEXT HARDENING MOVES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2679192"/>
            <a:ext cx="91440" cy="9144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2606040"/>
            <a:ext cx="4096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Connect vector + Neo4j retrieval to the live chat path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3154680"/>
            <a:ext cx="91440" cy="9144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84848" y="3081528"/>
            <a:ext cx="4096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Replace keyword parsing with a tested intent layer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630168"/>
            <a:ext cx="91440" cy="9144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84848" y="3557016"/>
            <a:ext cx="4096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Lock down CORS and remove demo OTP leakage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105656"/>
            <a:ext cx="91440" cy="9144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84848" y="4032504"/>
            <a:ext cx="4096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Add auth, purge, and control-state tests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581144"/>
            <a:ext cx="91440" cy="91440"/>
          </a:xfrm>
          <a:prstGeom prst="ellipse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84848" y="4507992"/>
            <a:ext cx="4096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"/>
              </a:rPr>
              <a:t>Move secrets and DB paths to deployment config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9788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The strongest next milestone is an end-to-end governed retrieval path: one request, one context package, one auditable recommendation.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1080</Words>
  <Application>Microsoft Office PowerPoint</Application>
  <PresentationFormat>Widescreen</PresentationFormat>
  <Paragraphs>196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JATIN PARASHAR</cp:lastModifiedBy>
  <cp:revision>2</cp:revision>
  <dcterms:created xsi:type="dcterms:W3CDTF">2013-01-27T09:14:16Z</dcterms:created>
  <dcterms:modified xsi:type="dcterms:W3CDTF">2026-09-03T09:36:32Z</dcterms:modified>
  <cp:category/>
</cp:coreProperties>
</file>