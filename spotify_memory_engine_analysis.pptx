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DB954"/>
                </a:solidFill>
                <a:latin typeface="Aptos"/>
              </a:rPr>
              <a:t>SPOTIFY AI / BACKEND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5F5F5"/>
                </a:solidFill>
                <a:latin typeface="Aptos Display"/>
              </a:rPr>
              <a:t>Spotify Governed
AI Memory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017520"/>
            <a:ext cx="6949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A5A5A5"/>
                </a:solidFill>
                <a:latin typeface="Aptos"/>
              </a:rPr>
              <a:t>A code-grounded walkthrough of personalization, temporal memory, and privacy controls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4069080"/>
            <a:ext cx="1005840" cy="310896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133088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21212"/>
                </a:solidFill>
                <a:latin typeface="Aptos"/>
              </a:rPr>
              <a:t>FASTAPI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19" y="4069080"/>
            <a:ext cx="960120" cy="310896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19" y="4133088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5F5F5"/>
                </a:solidFill>
                <a:latin typeface="Aptos"/>
              </a:rPr>
              <a:t>SQLITE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44368" y="4069080"/>
            <a:ext cx="987552" cy="310896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4133088"/>
            <a:ext cx="9875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5F5F5"/>
                </a:solidFill>
                <a:latin typeface="Aptos"/>
              </a:rPr>
              <a:t>CHROMA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41648" y="4069080"/>
            <a:ext cx="896112" cy="310896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41648" y="4133088"/>
            <a:ext cx="8961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5F5F5"/>
                </a:solidFill>
                <a:latin typeface="Aptos"/>
              </a:rPr>
              <a:t>NEO4J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4800600"/>
            <a:ext cx="146304" cy="640080"/>
          </a:xfrm>
          <a:prstGeom prst="round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51392" y="4069080"/>
            <a:ext cx="146304" cy="1371600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98864" y="4526280"/>
            <a:ext cx="146304" cy="914400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46336" y="3337560"/>
            <a:ext cx="146304" cy="2103120"/>
          </a:xfrm>
          <a:prstGeom prst="round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93808" y="4297680"/>
            <a:ext cx="146304" cy="1143000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41280" y="3611880"/>
            <a:ext cx="146304" cy="1828800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588752" y="4663440"/>
            <a:ext cx="146304" cy="777240"/>
          </a:xfrm>
          <a:prstGeom prst="round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936224" y="3886200"/>
            <a:ext cx="146304" cy="1554480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62179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5A5A5"/>
                </a:solidFill>
                <a:latin typeface="Aptos"/>
              </a:rPr>
              <a:t>v5.1.0  |  implementation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Aptos"/>
              </a:rPr>
              <a:t>BACKEND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Aptos Display"/>
              </a:rPr>
              <a:t>From listening request to personalized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A5A5A5"/>
                </a:solidFill>
                <a:latin typeface="Aptos"/>
              </a:rP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44752"/>
            <a:ext cx="10972800" cy="0"/>
          </a:xfrm>
          <a:prstGeom prst="line">
            <a:avLst/>
          </a:prstGeom>
          <a:ln w="127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17830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ptos"/>
              </a:rPr>
              <a:t>A single chat request passes through validation, context resolution, persistence, and Spotify retrieval.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06040"/>
            <a:ext cx="1874519" cy="182880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B954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ptos Display"/>
              </a:rPr>
              <a:t>Receive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1417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ptos"/>
              </a:rPr>
              <a:t>POST /ai/personalized-chat
user_id + message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87752" y="3520440"/>
            <a:ext cx="246888" cy="0"/>
          </a:xfrm>
          <a:prstGeom prst="line">
            <a:avLst/>
          </a:prstGeom>
          <a:ln w="254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26080" y="2606040"/>
            <a:ext cx="1874519" cy="182880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2852928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B954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24612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ptos Display"/>
              </a:rPr>
              <a:t>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703320"/>
            <a:ext cx="1417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ptos"/>
              </a:rPr>
              <a:t>SQLite profile
control state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28032" y="3520440"/>
            <a:ext cx="246888" cy="0"/>
          </a:xfrm>
          <a:prstGeom prst="line">
            <a:avLst/>
          </a:prstGeom>
          <a:ln w="254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66360" y="2606040"/>
            <a:ext cx="1874519" cy="182880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2852928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B954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324612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ptos Display"/>
              </a:rPr>
              <a:t>Interpret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703320"/>
            <a:ext cx="1417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ptos"/>
              </a:rPr>
              <a:t>Rules resolve mood,
activity, artist, bans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68312" y="3520440"/>
            <a:ext cx="246888" cy="0"/>
          </a:xfrm>
          <a:prstGeom prst="line">
            <a:avLst/>
          </a:prstGeom>
          <a:ln w="254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06640" y="2606040"/>
            <a:ext cx="1874519" cy="182880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2852928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B954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324612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ptos Display"/>
              </a:rPr>
              <a:t>Remember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703320"/>
            <a:ext cx="1417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ptos"/>
              </a:rPr>
              <a:t>Write profile, history,
graph facts, latency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08592" y="3520440"/>
            <a:ext cx="246888" cy="0"/>
          </a:xfrm>
          <a:prstGeom prst="line">
            <a:avLst/>
          </a:prstGeom>
          <a:ln w="254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646920" y="2606040"/>
            <a:ext cx="1874519" cy="1828800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0" y="2852928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324612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21212"/>
                </a:solidFill>
                <a:latin typeface="Aptos Display"/>
              </a:rPr>
              <a:t>Recommend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703320"/>
            <a:ext cx="1417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21212"/>
                </a:solidFill>
                <a:latin typeface="Aptos"/>
              </a:rPr>
              <a:t>Spotify API or
fallback 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074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CD4A"/>
                </a:solidFill>
                <a:latin typeface="Aptos"/>
              </a:rPr>
              <a:t>Control branch: memory_paused skips writes; personalization_enabled removes remembered artist, exclusion, and podcast context.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669280"/>
            <a:ext cx="10744200" cy="50292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833872"/>
            <a:ext cx="10241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5F5F5"/>
                </a:solidFill>
                <a:latin typeface="Aptos"/>
              </a:rPr>
              <a:t>Returns: ai_dj_response  |  recommended_tracks  |  context_package  |  latency  |  control state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Aptos"/>
              </a:rPr>
              <a:t>FOLDER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Aptos Display"/>
              </a:rPr>
              <a:t>The repository is organized around the memory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A5A5A5"/>
                </a:solidFill>
                <a:latin typeface="Aptos"/>
              </a:rP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44752"/>
            <a:ext cx="10972800" cy="0"/>
          </a:xfrm>
          <a:prstGeom prst="line">
            <a:avLst/>
          </a:prstGeom>
          <a:ln w="127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178308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5F5F5"/>
                </a:solidFill>
                <a:latin typeface="Aptos"/>
              </a:rPr>
              <a:t>The checked-in implementation is compact; the README also sketches the larger frontend and pipeline expansion.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23160"/>
            <a:ext cx="5120640" cy="324612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Aptos"/>
              </a:rPr>
              <a:t>CURRENT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4343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B954"/>
                </a:solidFill>
                <a:latin typeface="Aptos"/>
              </a:rPr>
              <a:t>backend/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56432"/>
            <a:ext cx="4343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>    main.py                 API + orchestration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03904"/>
            <a:ext cx="4343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>    database.py             SQLite helpers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51376"/>
            <a:ext cx="4343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>    embeddings.py           384-d vector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498848"/>
            <a:ext cx="4343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>    vector_db.py            ChromaDB persistence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46320"/>
            <a:ext cx="4343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>    graph_memory.py         Neo4j adapter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93792"/>
            <a:ext cx="4343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5A5A5"/>
                </a:solidFill>
                <a:latin typeface="Aptos"/>
              </a:rPr>
              <a:t>requirements.txt        runtime dependencies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423160"/>
            <a:ext cx="5257800" cy="3246120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69748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21212"/>
                </a:solidFill>
                <a:latin typeface="Aptos"/>
              </a:rPr>
              <a:t>README EXPANSION 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182112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21212"/>
                </a:solidFill>
                <a:latin typeface="Aptos"/>
              </a:rPr>
              <a:t>frontend/          Streamlit pages + components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621024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21212"/>
                </a:solidFill>
                <a:latin typeface="Aptos"/>
              </a:rPr>
              <a:t>memory_pipeline/   auth, ingestion, retrieval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059935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21212"/>
                </a:solidFill>
                <a:latin typeface="Aptos"/>
              </a:rPr>
              <a:t>mcp/               governed memory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498848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21212"/>
                </a:solidFill>
                <a:latin typeface="Aptos"/>
              </a:rPr>
              <a:t>tests/             API, memory, embedding coverage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937760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21212"/>
                </a:solidFill>
                <a:latin typeface="Aptos"/>
              </a:rPr>
              <a:t>data/              runtime data mount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9893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CD4A"/>
                </a:solidFill>
                <a:latin typeface="Aptos"/>
              </a:rPr>
              <a:t>Implementation read: main.py currently owns the live request path; the standalone vector and Neo4j adapters are ready for integration.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Aptos"/>
              </a:rPr>
              <a:t>THE PRODUCT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Aptos Display"/>
              </a:rPr>
              <a:t>A personal DJ that remembers with permission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A5A5A5"/>
                </a:solidFill>
                <a:latin typeface="Aptos"/>
              </a:rP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44752"/>
            <a:ext cx="10972800" cy="0"/>
          </a:xfrm>
          <a:prstGeom prst="line">
            <a:avLst/>
          </a:prstGeom>
          <a:ln w="127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783080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F5F5"/>
                </a:solidFill>
                <a:latin typeface="Aptos"/>
              </a:rPr>
              <a:t>The backend turns a natural-language listening request into a governed context package and a Spotify search.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3291840" cy="237744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Aptos"/>
              </a:rPr>
              <a:t>USER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6517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F5F5F5"/>
                </a:solidFill>
                <a:latin typeface="Aptos Display"/>
              </a:rPr>
              <a:t>"Give me something
for a coding session
without rap"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60520" y="3749039"/>
            <a:ext cx="731520" cy="0"/>
          </a:xfrm>
          <a:prstGeom prst="line">
            <a:avLst/>
          </a:prstGeom>
          <a:ln w="381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773168" y="3648456"/>
            <a:ext cx="201168" cy="20116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74920" y="2606040"/>
            <a:ext cx="3291840" cy="237744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288036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Aptos"/>
              </a:rPr>
              <a:t>RESOLVED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329184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F5F5"/>
                </a:solidFill>
                <a:latin typeface="Aptos"/>
              </a:rPr>
              <a:t>activity: Study Session
mood: Focus
banned: Rap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49640" y="3749039"/>
            <a:ext cx="731520" cy="0"/>
          </a:xfrm>
          <a:prstGeom prst="line">
            <a:avLst/>
          </a:prstGeom>
          <a:ln w="381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162288" y="3648456"/>
            <a:ext cx="201168" cy="20116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464040" y="2606040"/>
            <a:ext cx="2057400" cy="2377440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288036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21212"/>
                </a:solidFill>
                <a:latin typeface="Aptos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333756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21212"/>
                </a:solidFill>
                <a:latin typeface="Aptos Display"/>
              </a:rPr>
              <a:t>Personalized
track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7150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5A5A5"/>
                </a:solidFill>
                <a:latin typeface="Aptos"/>
              </a:rPr>
              <a:t>Core promise: relevant recommendations, explainable memory, and user-controlled personalization.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Aptos"/>
              </a:rPr>
              <a:t>RUNTIME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Aptos Display"/>
              </a:rPr>
              <a:t>The implemented request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A5A5A5"/>
                </a:solidFill>
                <a:latin typeface="Aptos"/>
              </a:rP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44752"/>
            <a:ext cx="10972800" cy="0"/>
          </a:xfrm>
          <a:prstGeom prst="line">
            <a:avLst/>
          </a:prstGeom>
          <a:ln w="127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04088" y="2487168"/>
            <a:ext cx="292608" cy="29260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569464"/>
            <a:ext cx="2926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21212"/>
                </a:solidFill>
                <a:latin typeface="Aptos"/>
              </a:rPr>
              <a:t>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05840" y="2633472"/>
            <a:ext cx="1709928" cy="0"/>
          </a:xfrm>
          <a:prstGeom prst="line">
            <a:avLst/>
          </a:prstGeom>
          <a:ln w="254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306324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ptos Display"/>
              </a:rPr>
              <a:t>POST /ai/
personalized-chat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0332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ptos"/>
              </a:rPr>
              <a:t>FastAPI receives user_id + message</a:t>
            </a:r>
          </a:p>
        </p:txBody>
      </p:sp>
      <p:sp>
        <p:nvSpPr>
          <p:cNvPr id="12" name="Oval 11"/>
          <p:cNvSpPr/>
          <p:nvPr/>
        </p:nvSpPr>
        <p:spPr>
          <a:xfrm>
            <a:off x="2944368" y="2487168"/>
            <a:ext cx="292608" cy="29260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2569464"/>
            <a:ext cx="2926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21212"/>
                </a:solidFill>
                <a:latin typeface="Aptos"/>
              </a:rPr>
              <a:t>02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46120" y="2633472"/>
            <a:ext cx="1709928" cy="0"/>
          </a:xfrm>
          <a:prstGeom prst="line">
            <a:avLst/>
          </a:prstGeom>
          <a:ln w="254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926080" y="306324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ptos Display"/>
              </a:rPr>
              <a:t>Load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70332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ptos"/>
              </a:rPr>
              <a:t>SQLite reads memory + control flags</a:t>
            </a:r>
          </a:p>
        </p:txBody>
      </p:sp>
      <p:sp>
        <p:nvSpPr>
          <p:cNvPr id="17" name="Oval 16"/>
          <p:cNvSpPr/>
          <p:nvPr/>
        </p:nvSpPr>
        <p:spPr>
          <a:xfrm>
            <a:off x="5184648" y="2487168"/>
            <a:ext cx="292608" cy="29260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2569464"/>
            <a:ext cx="2926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21212"/>
                </a:solidFill>
                <a:latin typeface="Aptos"/>
              </a:rP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0" y="2633472"/>
            <a:ext cx="1709928" cy="0"/>
          </a:xfrm>
          <a:prstGeom prst="line">
            <a:avLst/>
          </a:prstGeom>
          <a:ln w="254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66360" y="306324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ptos Display"/>
              </a:rPr>
              <a:t>Resolve intent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370332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ptos"/>
              </a:rPr>
              <a:t>Keyword rules classify mood, activity, artist, exclusions</a:t>
            </a:r>
          </a:p>
        </p:txBody>
      </p:sp>
      <p:sp>
        <p:nvSpPr>
          <p:cNvPr id="22" name="Oval 21"/>
          <p:cNvSpPr/>
          <p:nvPr/>
        </p:nvSpPr>
        <p:spPr>
          <a:xfrm>
            <a:off x="7424928" y="2487168"/>
            <a:ext cx="292608" cy="29260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4928" y="2569464"/>
            <a:ext cx="2926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21212"/>
                </a:solidFill>
                <a:latin typeface="Aptos"/>
              </a:rPr>
              <a:t>04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26680" y="2633472"/>
            <a:ext cx="1709928" cy="0"/>
          </a:xfrm>
          <a:prstGeom prst="line">
            <a:avLst/>
          </a:prstGeom>
          <a:ln w="254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406640" y="306324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ptos Display"/>
              </a:rPr>
              <a:t>Persist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70332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ptos"/>
              </a:rPr>
              <a:t>Profile, history, graph facts, and latency are recorded</a:t>
            </a:r>
          </a:p>
        </p:txBody>
      </p:sp>
      <p:sp>
        <p:nvSpPr>
          <p:cNvPr id="27" name="Oval 26"/>
          <p:cNvSpPr/>
          <p:nvPr/>
        </p:nvSpPr>
        <p:spPr>
          <a:xfrm>
            <a:off x="9665208" y="2487168"/>
            <a:ext cx="292608" cy="29260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65208" y="2569464"/>
            <a:ext cx="2926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21212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306324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ptos Display"/>
              </a:rPr>
              <a:t>Search Spotify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370332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ptos"/>
              </a:rPr>
              <a:t>OAuth API when configured; deterministic fallback otherwise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120640"/>
            <a:ext cx="10744200" cy="77724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3583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DB954"/>
                </a:solidFill>
                <a:latin typeface="Aptos"/>
              </a:rPr>
              <a:t>Response includes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5340096"/>
            <a:ext cx="8412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>ai_dj_response   |   recommended_tracks   |   context_package   |   retrieval_latency_ms   |   control state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Aptos Display"/>
              </a:rPr>
              <a:t>One API, three memory representations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A5A5A5"/>
                </a:solidFill>
                <a:latin typeface="Aptos"/>
              </a:rP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44752"/>
            <a:ext cx="10972800" cy="0"/>
          </a:xfrm>
          <a:prstGeom prst="line">
            <a:avLst/>
          </a:prstGeom>
          <a:ln w="127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73736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F5F5F5"/>
                </a:solidFill>
                <a:latin typeface="Aptos"/>
              </a:rPr>
              <a:t>The repository contains a hybrid-memory design: structured state for control, vectors for similarity, and a graph for relationships and lineage.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14600"/>
            <a:ext cx="2057400" cy="1508760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1635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21212"/>
                </a:solidFill>
                <a:latin typeface="Aptos"/>
              </a:rPr>
              <a:t>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82112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21212"/>
                </a:solidFill>
                <a:latin typeface="Aptos Display"/>
              </a:rPr>
              <a:t>Streamlit UI
(or any HTTP client)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80360" y="3273552"/>
            <a:ext cx="640080" cy="0"/>
          </a:xfrm>
          <a:prstGeom prst="line">
            <a:avLst/>
          </a:prstGeom>
          <a:ln w="381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11880" y="2514600"/>
            <a:ext cx="2011680" cy="150876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67912" y="2816352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Aptos"/>
              </a:rPr>
              <a:t>ORCHESTRATOR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7912" y="3182112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5F5F5"/>
                </a:solidFill>
                <a:latin typeface="Aptos Display"/>
              </a:rPr>
              <a:t>FastAPI
main.py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720" y="2880360"/>
            <a:ext cx="640080" cy="0"/>
          </a:xfrm>
          <a:prstGeom prst="line">
            <a:avLst/>
          </a:prstGeom>
          <a:ln w="254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60720" y="3639312"/>
            <a:ext cx="640080" cy="0"/>
          </a:xfrm>
          <a:prstGeom prst="line">
            <a:avLst/>
          </a:prstGeom>
          <a:ln w="254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92240" y="2057400"/>
            <a:ext cx="2148840" cy="114300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48272" y="2331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Aptos"/>
              </a:rPr>
              <a:t>STRUCTURED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2651760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SQLite profile +
history + controls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3337560"/>
            <a:ext cx="2148840" cy="114300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361188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Aptos"/>
              </a:rPr>
              <a:t>SEMANTIC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393192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ChromaDB +
MiniLM embeddings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2743200"/>
            <a:ext cx="2148840" cy="114300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3017520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Aptos"/>
              </a:rPr>
              <a:t>RELATIONSHIP 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3337560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Optional Neo4j
temporal graph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68512" y="2880360"/>
            <a:ext cx="475488" cy="274320"/>
          </a:xfrm>
          <a:prstGeom prst="line">
            <a:avLst/>
          </a:prstGeom>
          <a:ln w="254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668512" y="3474720"/>
            <a:ext cx="475488" cy="438912"/>
          </a:xfrm>
          <a:prstGeom prst="line">
            <a:avLst/>
          </a:prstGeom>
          <a:ln w="254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5800" y="539496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CD4A"/>
                </a:solidFill>
                <a:latin typeface="Aptos"/>
              </a:rPr>
              <a:t>Repository note: the current `main.py` path directly implements SQLite + a local temporal_graph table. The standalone vector/Neo4j modules are not imported there yet.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Aptos"/>
              </a:rPr>
              <a:t>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Aptos Display"/>
              </a:rPr>
              <a:t>Memory is a timeline, not a single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A5A5A5"/>
                </a:solidFill>
                <a:latin typeface="Aptos"/>
              </a:rP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44752"/>
            <a:ext cx="10972800" cy="0"/>
          </a:xfrm>
          <a:prstGeom prst="line">
            <a:avLst/>
          </a:prstGeom>
          <a:ln w="127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1828800"/>
            <a:ext cx="5029200" cy="347472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Aptos"/>
              </a:rPr>
              <a:t>ACTIVE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78608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ptos"/>
              </a:rPr>
              <a:t>preference_artist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578608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F5F5F5"/>
                </a:solidFill>
                <a:latin typeface="Aptos"/>
              </a:rPr>
              <a:t>Diljit Dosanjh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54096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ptos"/>
              </a:rPr>
              <a:t>episode_activity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05409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F5F5F5"/>
                </a:solidFill>
                <a:latin typeface="Aptos"/>
              </a:rPr>
              <a:t>Study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529584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ptos"/>
              </a:rPr>
              <a:t>episode_mood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529584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F5F5F5"/>
                </a:solidFill>
                <a:latin typeface="Aptos"/>
              </a:rPr>
              <a:t>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00507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ptos"/>
              </a:rPr>
              <a:t>exclusion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400507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F5F5F5"/>
                </a:solidFill>
                <a:latin typeface="Aptos"/>
              </a:rPr>
              <a:t>Rap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48056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ptos"/>
              </a:rPr>
              <a:t>personalization_enabled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48056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F5F5F5"/>
                </a:solidFill>
                <a:latin typeface="Aptos"/>
              </a:rPr>
              <a:t>true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72200" y="3566160"/>
            <a:ext cx="731520" cy="0"/>
          </a:xfrm>
          <a:prstGeom prst="line">
            <a:avLst/>
          </a:prstGeom>
          <a:ln w="381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040880" y="1828800"/>
            <a:ext cx="4389120" cy="347472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21488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Aptos"/>
              </a:rPr>
              <a:t>TEMPORAL GRAPH 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74320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ptos"/>
              </a:rPr>
              <a:t>user_42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743200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DB954"/>
                </a:solidFill>
                <a:latin typeface="Aptos"/>
              </a:rPr>
              <a:t>PREFERS_ARTIST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33756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5F5F5"/>
                </a:solidFill>
                <a:latin typeface="Aptos"/>
              </a:rPr>
              <a:t>Diljit Dosanjh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955279" y="2852928"/>
            <a:ext cx="1261873" cy="393192"/>
          </a:xfrm>
          <a:prstGeom prst="line">
            <a:avLst/>
          </a:prstGeom>
          <a:ln w="254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60920" y="3977639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FFF00"/>
                </a:solidFill>
                <a:latin typeface="Aptos"/>
              </a:rPr>
              <a:t>confidence 0.98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443484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5A5A5"/>
                </a:solidFill>
                <a:latin typeface="Aptos"/>
              </a:rPr>
              <a:t>provenance: User Conversation Intent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71500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"/>
              </a:rPr>
              <a:t>When a field changes, the previous active fact is closed (`valid_to`) and a new fact becomes active. This creates correction lineage instead of silent overwrites.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Aptos"/>
              </a:rPr>
              <a:t>TRUST AND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Aptos Display"/>
              </a:rPr>
              <a:t>Personalization has visible off-ramps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A5A5A5"/>
                </a:solidFill>
                <a:latin typeface="Aptos"/>
              </a:rPr>
              <a:t>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44752"/>
            <a:ext cx="10972800" cy="0"/>
          </a:xfrm>
          <a:prstGeom prst="line">
            <a:avLst/>
          </a:prstGeom>
          <a:ln w="127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178308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ptos"/>
              </a:rPr>
              <a:t>The API exposes memory controls as first-class endpoints, not hidden flags.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1920240" cy="384048"/>
          </a:xfrm>
          <a:prstGeom prst="roundRect">
            <a:avLst/>
          </a:prstGeom>
          <a:solidFill>
            <a:srgbClr val="FFC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21212"/>
                </a:solidFill>
                <a:latin typeface="Aptos"/>
              </a:rPr>
              <a:t>PAUSE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542032"/>
            <a:ext cx="7223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Aptos"/>
              </a:rPr>
              <a:t>Stop profile and history writes during chat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44952"/>
            <a:ext cx="1920240" cy="384048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36392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21212"/>
                </a:solidFill>
                <a:latin typeface="Aptos"/>
              </a:rPr>
              <a:t>PERSONALIZATION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118104"/>
            <a:ext cx="7223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Aptos"/>
              </a:rPr>
              <a:t>Keep the response generic when disabled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21024"/>
            <a:ext cx="1920240" cy="384048"/>
          </a:xfrm>
          <a:prstGeom prst="round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12463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21212"/>
                </a:solidFill>
                <a:latin typeface="Aptos"/>
              </a:rPr>
              <a:t>CORRECT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694176"/>
            <a:ext cx="7223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Aptos"/>
              </a:rPr>
              <a:t>Update a field and preserve graph provenance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97096"/>
            <a:ext cx="1920240" cy="384048"/>
          </a:xfrm>
          <a:prstGeom prst="round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88536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21212"/>
                </a:solidFill>
                <a:latin typeface="Aptos"/>
              </a:rPr>
              <a:t>PURGE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270248"/>
            <a:ext cx="7223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Aptos"/>
              </a:rPr>
              <a:t>Delete SQLite profile, history, and graph 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73168"/>
            <a:ext cx="192024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64608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21212"/>
                </a:solidFill>
                <a:latin typeface="Aptos"/>
              </a:rPr>
              <a:t>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4846320"/>
            <a:ext cx="7223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Aptos"/>
              </a:rPr>
              <a:t>Return profile, active facts, and telemetry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13832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DB954"/>
                </a:solidFill>
                <a:latin typeface="Aptos"/>
              </a:rPr>
              <a:t>Operational note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549554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CD4A"/>
                </a:solidFill>
                <a:latin typeface="Aptos"/>
              </a:rPr>
              <a:t>CORS is currently open to all origins, and demo OTPs are returned in the response. Tighten both before production use.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Aptos"/>
              </a:rPr>
              <a:t>API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Aptos Display"/>
              </a:rPr>
              <a:t>The backend surface is small and legible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A5A5A5"/>
                </a:solidFill>
                <a:latin typeface="Aptos"/>
              </a:rPr>
              <a:t>09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44752"/>
            <a:ext cx="10972800" cy="0"/>
          </a:xfrm>
          <a:prstGeom prst="line">
            <a:avLst/>
          </a:prstGeom>
          <a:ln w="127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1874519"/>
            <a:ext cx="4983480" cy="169164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Aptos"/>
              </a:rPr>
              <a:t>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5973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Aptos"/>
              </a:rPr>
              <a:t>POST /auth/send-otp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79191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Aptos"/>
              </a:rPr>
              <a:t>POST /auth/register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98648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Aptos"/>
              </a:rPr>
              <a:t>POST /auth/login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4983480" cy="169164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Aptos"/>
              </a:rPr>
              <a:t>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5973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Aptos"/>
              </a:rPr>
              <a:t>GET /memory/{user_id}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79191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Aptos"/>
              </a:rPr>
              <a:t>POST /memory/update-field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98648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Aptos"/>
              </a:rPr>
              <a:t>POST /memory/toggle-control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18104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Aptos"/>
              </a:rPr>
              <a:t>POST /memory/purge/{user_id}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37560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Aptos"/>
              </a:rPr>
              <a:t>GET /memory/export/{user_id}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977639"/>
            <a:ext cx="4983480" cy="169164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20624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Aptos"/>
              </a:rPr>
              <a:t>AI +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562855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Aptos"/>
              </a:rPr>
              <a:t>POST /ai/personalized-chat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782312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Aptos"/>
              </a:rPr>
              <a:t>GET /ai/retrieve-ranked-memory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01767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Aptos"/>
              </a:rPr>
              <a:t>GET /spotify/search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977639"/>
            <a:ext cx="4983480" cy="169164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20624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Aptos"/>
              </a:rPr>
              <a:t>MCP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562855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Aptos"/>
              </a:rPr>
              <a:t>GET /mcp/tools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782312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Aptos"/>
              </a:rPr>
              <a:t>search_memory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001767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Aptos"/>
              </a:rPr>
              <a:t>correct_memory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221223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Aptos"/>
              </a:rPr>
              <a:t>explain_memory_use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172200"/>
            <a:ext cx="10607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ptos"/>
              </a:rPr>
              <a:t>Design signal: the MCP manifest already points toward tool-based memory governance, even though the implementation currently exposes the manifest as an API response.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Aptos"/>
              </a:rPr>
              <a:t>ENGINEERING READOUT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Aptos Display"/>
              </a:rPr>
              <a:t>What is working, and what to harden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A5A5A5"/>
                </a:solidFill>
                <a:latin typeface="Aptos"/>
              </a:rP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44752"/>
            <a:ext cx="10972800" cy="0"/>
          </a:xfrm>
          <a:prstGeom prst="line">
            <a:avLst/>
          </a:prstGeom>
          <a:ln w="127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1828800"/>
            <a:ext cx="5166360" cy="356616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Aptos"/>
              </a:rPr>
              <a:t>WORKING FOUNDATION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2679192"/>
            <a:ext cx="91440" cy="9144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606040"/>
            <a:ext cx="40965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"/>
              </a:rPr>
              <a:t>FastAPI endpoints are easy to discover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3154680"/>
            <a:ext cx="91440" cy="9144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3081528"/>
            <a:ext cx="40965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"/>
              </a:rPr>
              <a:t>Memory controls cover pause, disable, export, purge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3630168"/>
            <a:ext cx="91440" cy="9144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557016"/>
            <a:ext cx="40965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"/>
              </a:rPr>
              <a:t>Temporal facts retain confidence + provenance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4105656"/>
            <a:ext cx="91440" cy="9144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4032504"/>
            <a:ext cx="40965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"/>
              </a:rPr>
              <a:t>Spotify integration degrades to a local fallback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4581144"/>
            <a:ext cx="91440" cy="9144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07992"/>
            <a:ext cx="40965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"/>
              </a:rPr>
              <a:t>Latency is measured and returned per request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828800"/>
            <a:ext cx="5166360" cy="3566160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148840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21212"/>
                </a:solidFill>
                <a:latin typeface="Aptos"/>
              </a:rPr>
              <a:t>NEXT HARDENING MOVES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0" y="2679192"/>
            <a:ext cx="91440" cy="91440"/>
          </a:xfrm>
          <a:prstGeom prst="ellipse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84848" y="2606040"/>
            <a:ext cx="40965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"/>
              </a:rPr>
              <a:t>Connect vector + Neo4j retrieval to the live chat path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0" y="3154680"/>
            <a:ext cx="91440" cy="91440"/>
          </a:xfrm>
          <a:prstGeom prst="ellipse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4848" y="3081528"/>
            <a:ext cx="40965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"/>
              </a:rPr>
              <a:t>Replace keyword parsing with a tested intent layer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0" y="3630168"/>
            <a:ext cx="91440" cy="91440"/>
          </a:xfrm>
          <a:prstGeom prst="ellipse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3557016"/>
            <a:ext cx="40965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"/>
              </a:rPr>
              <a:t>Lock down CORS and remove demo OTP leakage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4105656"/>
            <a:ext cx="91440" cy="91440"/>
          </a:xfrm>
          <a:prstGeom prst="ellipse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84848" y="4032504"/>
            <a:ext cx="40965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"/>
              </a:rPr>
              <a:t>Add auth, purge, and control-state tests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0" y="4581144"/>
            <a:ext cx="91440" cy="91440"/>
          </a:xfrm>
          <a:prstGeom prst="ellipse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84848" y="4507992"/>
            <a:ext cx="40965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"/>
              </a:rPr>
              <a:t>Move secrets and DB paths to deployment config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89788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The strongest next milestone is an end-to-end governed retrieval path: one request, one context package, one auditable recommendation.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